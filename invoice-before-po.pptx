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d6b75c1c8344b33" /><Relationship Type="http://schemas.openxmlformats.org/officeDocument/2006/relationships/extended-properties" Target="/docProps/app.xml" Id="Rac501612cb3444f8" /><Relationship Type="http://schemas.openxmlformats.org/officeDocument/2006/relationships/officeDocument" Target="/ppt/presentation.xml" Id="Ra9d300074cae4c4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2aa748b4816495f"/>
  </p:sldMasterIdLst>
  <p:notesMasterIdLst>
    <p:notesMasterId xmlns:r="http://schemas.openxmlformats.org/officeDocument/2006/relationships" r:id="Rb051cbf8f9e947da"/>
  </p:notesMasterIdLst>
  <p:sldIdLst>
    <p:sldId xmlns:r="http://schemas.openxmlformats.org/officeDocument/2006/relationships" id="256" r:id="R66f2d229953e43d2"/>
    <p:sldId xmlns:r="http://schemas.openxmlformats.org/officeDocument/2006/relationships" id="257" r:id="R7e6c63aae1dd409e"/>
    <p:sldId xmlns:r="http://schemas.openxmlformats.org/officeDocument/2006/relationships" id="258" r:id="Ra33c6121938b4e26"/>
    <p:sldId xmlns:r="http://schemas.openxmlformats.org/officeDocument/2006/relationships" id="259" r:id="R87cd208d161b445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78452d096df42b1" /><Relationship Type="http://schemas.openxmlformats.org/officeDocument/2006/relationships/slideMaster" Target="/ppt/slideMasters/slideMaster1.xml" Id="R32aa748b4816495f" /><Relationship Type="http://schemas.openxmlformats.org/officeDocument/2006/relationships/notesMaster" Target="/ppt/notesMasters/notesMaster1.xml" Id="Rb051cbf8f9e947da" /><Relationship Type="http://schemas.openxmlformats.org/officeDocument/2006/relationships/presProps" Target="/ppt/presProps.xml" Id="R3fcb107e21124ebd" /><Relationship Type="http://schemas.openxmlformats.org/officeDocument/2006/relationships/tableStyles" Target="/ppt/tableStyles.xml" Id="R86e8909c05d345ca" /><Relationship Type="http://schemas.openxmlformats.org/officeDocument/2006/relationships/slide" Target="/ppt/slides/slide1.xml" Id="R66f2d229953e43d2" /><Relationship Type="http://schemas.openxmlformats.org/officeDocument/2006/relationships/slide" Target="/ppt/slides/slide2.xml" Id="R7e6c63aae1dd409e" /><Relationship Type="http://schemas.openxmlformats.org/officeDocument/2006/relationships/slide" Target="/ppt/slides/slide3.xml" Id="Ra33c6121938b4e26" /><Relationship Type="http://schemas.openxmlformats.org/officeDocument/2006/relationships/slide" Target="/ppt/slides/slide4.xml" Id="R87cd208d161b445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ab7417da706405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266e9dcf2db4656" /><Relationship Type="http://schemas.openxmlformats.org/officeDocument/2006/relationships/notesMaster" Target="/ppt/notesMasters/notesMaster1.xml" Id="Rc93e5b47d28a469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419161fa2e6499d" /><Relationship Type="http://schemas.openxmlformats.org/officeDocument/2006/relationships/notesMaster" Target="/ppt/notesMasters/notesMaster1.xml" Id="R89ab15c3cb2a428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ad2e5ed1b3342a0" /><Relationship Type="http://schemas.openxmlformats.org/officeDocument/2006/relationships/notesMaster" Target="/ppt/notesMasters/notesMaster1.xml" Id="Rc268d7659f3c40e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6421662510b40cb" /><Relationship Type="http://schemas.openxmlformats.org/officeDocument/2006/relationships/notesMaster" Target="/ppt/notesMasters/notesMaster1.xml" Id="Ra20a3e01022944b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resume and portfolio project content.</a:t>
            </a:r>
          </a:p>
          <a:p xmlns:a="http://schemas.openxmlformats.org/drawingml/2006/main">
            <a:r>
              <a:t>- Representative project visual generated for this portfolio.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resume and portfolio project content.</a:t>
            </a:r>
          </a:p>
          <a:p xmlns:a="http://schemas.openxmlformats.org/drawingml/2006/main">
            <a:r>
              <a:t>- Representative project visual generated for this portfolio.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resume and portfolio project content.</a:t>
            </a:r>
          </a:p>
          <a:p xmlns:a="http://schemas.openxmlformats.org/drawingml/2006/main">
            <a:r>
              <a:t>- Representative project visual generated for this portfolio.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resume and portfolio project content.</a:t>
            </a:r>
          </a:p>
          <a:p xmlns:a="http://schemas.openxmlformats.org/drawingml/2006/main">
            <a:r>
              <a:t>- Representative project visual generated for this portfolio.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7f5a0350da42c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50d3037fc624b8b" /><Relationship Type="http://schemas.openxmlformats.org/officeDocument/2006/relationships/slideLayout" Target="/ppt/slideLayouts/slideLayout1.xml" Id="Ra10bf3eb5f9a41d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10bf3eb5f9a41d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58682daf334f84" /><Relationship Type="http://schemas.openxmlformats.org/officeDocument/2006/relationships/image" Target="/ppt/media/image.png" Id="R377a5528d7254104" /><Relationship Type="http://schemas.openxmlformats.org/officeDocument/2006/relationships/notesSlide" Target="/ppt/notesSlides/notesSlide1.xml" Id="R361a624d09fb430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8d640a3ff34152" /><Relationship Type="http://schemas.openxmlformats.org/officeDocument/2006/relationships/notesSlide" Target="/ppt/notesSlides/notesSlide2.xml" Id="Rc85fc66672f04d6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c6f4cd752045ec" /><Relationship Type="http://schemas.openxmlformats.org/officeDocument/2006/relationships/notesSlide" Target="/ppt/notesSlides/notesSlide3.xml" Id="Re168c6a79bca4d2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b357e73a8f4c34" /><Relationship Type="http://schemas.openxmlformats.org/officeDocument/2006/relationships/notesSlide" Target="/ppt/notesSlides/notesSlide4.xml" Id="R20c4653d7b804b8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2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7a5528d7254104"/>
          <a:srcRect xmlns:a="http://schemas.openxmlformats.org/drawingml/2006/main" l="25378" t="0" r="2537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0"/>
            <a:ext cx="6000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4B4229-A694-4706-841B-14339705D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0"/>
            <a:ext cx="1143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D504AE-3D75-4841-B1A5-2E5160E66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MAKING PURCHASING EXCEPTIONS VISIBLE AND ACTIONABLE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694FF3-E574-4565-A079-68A80B4C2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0B1F33"/>
                </a:solidFill>
              </a:defRPr>
            </a:pPr>
            <a:r>
              <a:rPr sz="3750" b="1">
                <a:solidFill>
                  <a:srgbClr val="0B1F33"/>
                </a:solidFill>
              </a:rPr>
              <a:t>Invoice Before PO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843F7A-C148-4427-A4FA-DA68887C7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86474"/>
                </a:solidFill>
              </a:defRPr>
            </a:pPr>
            <a:r>
              <a:rPr sz="1500">
                <a:solidFill>
                  <a:srgbClr val="586474"/>
                </a:solidFill>
              </a:rPr>
              <a:t>Gouthami Vadithya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F4F2C1-B080-4101-9077-547D64592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B88A44"/>
                </a:solidFill>
              </a:defRPr>
            </a:pPr>
            <a:r>
              <a:rPr sz="1050">
                <a:solidFill>
                  <a:srgbClr val="B88A44"/>
                </a:solidFill>
              </a:rPr>
              <a:t>Procurement · Supply Chain · Operations</a:t>
            </a:r>
          </a:p>
        </p:txBody>
      </p:sp>
    </p:spTree>
    <p:extLst>
      <p:ext uri="{BB962C8B-B14F-4D97-AF65-F5344CB8AC3E}">
        <p14:creationId xmlns:p14="http://schemas.microsoft.com/office/powerpoint/2010/main" val="10398593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53A3EF-41BF-46D3-B5B8-2C087EB2D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F33"/>
                </a:solidFill>
              </a:defRPr>
            </a:pPr>
            <a:r>
              <a:rPr sz="2700" b="1">
                <a:solidFill>
                  <a:srgbClr val="0B1F33"/>
                </a:solidFill>
              </a:rPr>
              <a:t>The problem worth solving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6E3868-CD28-41F3-8991-631317230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4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352365-2843-4002-8BFC-C97A9E29B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2"/>
          </a:solidFill>
          <a:ln xmlns:a="http://schemas.openxmlformats.org/drawingml/2006/main" w="0">
            <a:solidFill>
              <a:srgbClr val="D9DE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1E157D-D762-48D3-87E7-A3AE15968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66875"/>
            <a:ext cx="7239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0B1F33"/>
                </a:solidFill>
              </a:defRPr>
            </a:pPr>
            <a:r>
              <a:rPr sz="2100">
                <a:solidFill>
                  <a:srgbClr val="0B1F33"/>
                </a:solidFill>
              </a:rPr>
              <a:t>PO, invoice, contract, supplier, and cost-center exceptions were reviewed in separate records. Leaders could see individual problems, but not the pattern behind them.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72EA49-F602-4E16-8B8E-5C1485527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638300"/>
            <a:ext cx="238125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B1F3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DCFC3D-A2F0-4151-884E-0479C09C7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955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2C1B7"/>
                </a:solidFill>
              </a:defRPr>
            </a:pPr>
            <a:r>
              <a:rPr sz="975" b="1">
                <a:solidFill>
                  <a:srgbClr val="72C1B7"/>
                </a:solidFill>
              </a:rPr>
              <a:t>WHY IT MATTERED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6116DD-6D05-4F35-ACCE-15A44E7E2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619375"/>
            <a:ext cx="1762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FFFFFF"/>
                </a:solidFill>
              </a:defRPr>
            </a:pPr>
            <a:r>
              <a:rPr sz="1500">
                <a:solidFill>
                  <a:srgbClr val="FFFFFF"/>
                </a:solidFill>
              </a:rPr>
              <a:t>The issue affected decisions, ownership, and execution, not just reporting.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B081FF-5F2A-439A-8A6C-C774C502E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91125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Power BI · SAP Ariba · Procurement compliance</a:t>
            </a:r>
          </a:p>
        </p:txBody>
      </p:sp>
    </p:spTree>
    <p:extLst>
      <p:ext uri="{BB962C8B-B14F-4D97-AF65-F5344CB8AC3E}">
        <p14:creationId xmlns:p14="http://schemas.microsoft.com/office/powerpoint/2010/main" val="20714719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2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F76A4F-5B61-4411-B089-C6BB2E351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F33"/>
                </a:solidFill>
              </a:defRPr>
            </a:pPr>
            <a:r>
              <a:rPr sz="2700" b="1">
                <a:solidFill>
                  <a:srgbClr val="0B1F33"/>
                </a:solidFill>
              </a:rPr>
              <a:t>How I approached the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66CCF4-D9E9-4006-94F7-D9D7F54D6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4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8182E2-39DC-42C7-8EF5-8AE99233E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2"/>
          </a:solidFill>
          <a:ln xmlns:a="http://schemas.openxmlformats.org/drawingml/2006/main" w="0">
            <a:solidFill>
              <a:srgbClr val="D9DE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275E4E-EB8D-485C-827C-677B6546C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60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88A44"/>
                </a:solidFill>
              </a:defRPr>
            </a:pPr>
            <a:r>
              <a:rPr sz="2100" b="1">
                <a:solidFill>
                  <a:srgbClr val="B88A44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07B3A8-9F8C-4353-900D-755A238D0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2152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B72FE1-7DE5-416C-AAAD-DE9C37944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71750"/>
            <a:ext cx="2190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Defined clear exception rules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E67BD2-FB44-453F-9E08-9110E6244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14500"/>
            <a:ext cx="60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88A44"/>
                </a:solidFill>
              </a:defRPr>
            </a:pPr>
            <a:r>
              <a:rPr sz="2100" b="1">
                <a:solidFill>
                  <a:srgbClr val="B88A44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8F9B24-651E-4A34-BE78-74C565B62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86000"/>
            <a:ext cx="2152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D00202-69A0-4927-92D4-AE0D694E2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71750"/>
            <a:ext cx="2190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Joined purchasing and invoice 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9C55A1-B5CC-4635-A308-592174936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14500"/>
            <a:ext cx="60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88A44"/>
                </a:solidFill>
              </a:defRPr>
            </a:pPr>
            <a:r>
              <a:rPr sz="2100" b="1">
                <a:solidFill>
                  <a:srgbClr val="B88A44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B70F26-D0EE-4D10-8E00-C0E085B7F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86000"/>
            <a:ext cx="2152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8E6EFA-19F0-464B-8EBD-F3988143E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71750"/>
            <a:ext cx="2190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Built executive and cost-center views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B96540-8468-4D3C-A133-0A16E92E6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714500"/>
            <a:ext cx="60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88A44"/>
                </a:solidFill>
              </a:defRPr>
            </a:pPr>
            <a:r>
              <a:rPr sz="2100" b="1">
                <a:solidFill>
                  <a:srgbClr val="B88A44"/>
                </a:solidFill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FD94F6-4BD6-40C1-99AA-0EF10E885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286000"/>
            <a:ext cx="2152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CD35B7-639F-4735-BDC7-E4E44BA6B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571750"/>
            <a:ext cx="2190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Added reason categories for action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71AB02-5054-4B32-A78E-57B10AAD3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5300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586474"/>
                </a:solidFill>
              </a:defRPr>
            </a:pPr>
            <a:r>
              <a:rPr sz="1500">
                <a:solidFill>
                  <a:srgbClr val="586474"/>
                </a:solidFill>
              </a:rPr>
              <a:t>The sequence moved from defining the decision to building evidence, testing options, and making the recommendation usable.</a:t>
            </a:r>
          </a:p>
        </p:txBody>
      </p:sp>
    </p:spTree>
    <p:extLst>
      <p:ext uri="{BB962C8B-B14F-4D97-AF65-F5344CB8AC3E}">
        <p14:creationId xmlns:p14="http://schemas.microsoft.com/office/powerpoint/2010/main" val="18238800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7A68AD6-62B6-49A8-AB5C-77CD1DC26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666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What changed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818514-E881-456E-B1C2-809FC4F8D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8286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FFFFFF"/>
                </a:solidFill>
              </a:defRPr>
            </a:pPr>
            <a:r>
              <a:rPr sz="2250">
                <a:solidFill>
                  <a:srgbClr val="FFFFFF"/>
                </a:solidFill>
              </a:rPr>
              <a:t>Created one decision-ready view of confirming orders, contract gaps, invoice-date mismatches, and repeat exceptions.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2A70E2-CE2D-446A-B2A6-C5F58A45A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1000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5411CD-0DEC-43A0-AE7C-EE601607C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24375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2C1B7"/>
                </a:solidFill>
              </a:defRPr>
            </a:pPr>
            <a:r>
              <a:rPr sz="1650" b="1">
                <a:solidFill>
                  <a:srgbClr val="72C1B7"/>
                </a:solidFill>
              </a:rPr>
              <a:t>Power BI · SAP Ariba · Procurement compliance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00022E-96E5-4639-8CE1-96BD683FA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9B6C2"/>
                </a:solidFill>
              </a:defRPr>
            </a:pPr>
            <a:r>
              <a:rPr sz="1050">
                <a:solidFill>
                  <a:srgbClr val="A9B6C2"/>
                </a:solidFill>
              </a:rPr>
              <a:t>Portfolio case study by Gouthami Vadithya</a:t>
            </a:r>
          </a:p>
        </p:txBody>
      </p:sp>
    </p:spTree>
    <p:extLst>
      <p:ext uri="{BB962C8B-B14F-4D97-AF65-F5344CB8AC3E}">
        <p14:creationId xmlns:p14="http://schemas.microsoft.com/office/powerpoint/2010/main" val="13824206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2026-07-24T17:47:01.6140000Z</dcterms:created>
  <dcterms:modified xsi:type="dcterms:W3CDTF">2026-07-24T17:47:01.6150000Z</dcterms:modified>
</coreProperties>
</file>