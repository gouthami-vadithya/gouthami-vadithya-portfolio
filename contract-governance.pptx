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f2c186d0ab4723" /><Relationship Type="http://schemas.openxmlformats.org/officeDocument/2006/relationships/extended-properties" Target="/docProps/app.xml" Id="R8a32895f99d04516" /><Relationship Type="http://schemas.openxmlformats.org/officeDocument/2006/relationships/officeDocument" Target="/ppt/presentation.xml" Id="R181812b413fd49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6531b896144717"/>
  </p:sldMasterIdLst>
  <p:notesMasterIdLst>
    <p:notesMasterId xmlns:r="http://schemas.openxmlformats.org/officeDocument/2006/relationships" r:id="R69c1f0ee8a674adf"/>
  </p:notesMasterIdLst>
  <p:sldIdLst>
    <p:sldId xmlns:r="http://schemas.openxmlformats.org/officeDocument/2006/relationships" id="256" r:id="Reb22df682b2a4bae"/>
    <p:sldId xmlns:r="http://schemas.openxmlformats.org/officeDocument/2006/relationships" id="257" r:id="R628806bcff7e4f4e"/>
    <p:sldId xmlns:r="http://schemas.openxmlformats.org/officeDocument/2006/relationships" id="258" r:id="Rdb91235854f34707"/>
    <p:sldId xmlns:r="http://schemas.openxmlformats.org/officeDocument/2006/relationships" id="259" r:id="R2431649834654ad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b6f09e673d46e8" /><Relationship Type="http://schemas.openxmlformats.org/officeDocument/2006/relationships/slideMaster" Target="/ppt/slideMasters/slideMaster1.xml" Id="R6e6531b896144717" /><Relationship Type="http://schemas.openxmlformats.org/officeDocument/2006/relationships/notesMaster" Target="/ppt/notesMasters/notesMaster1.xml" Id="R69c1f0ee8a674adf" /><Relationship Type="http://schemas.openxmlformats.org/officeDocument/2006/relationships/presProps" Target="/ppt/presProps.xml" Id="Re3f9738656b140f4" /><Relationship Type="http://schemas.openxmlformats.org/officeDocument/2006/relationships/tableStyles" Target="/ppt/tableStyles.xml" Id="R916d4fd53e044f88" /><Relationship Type="http://schemas.openxmlformats.org/officeDocument/2006/relationships/slide" Target="/ppt/slides/slide1.xml" Id="Reb22df682b2a4bae" /><Relationship Type="http://schemas.openxmlformats.org/officeDocument/2006/relationships/slide" Target="/ppt/slides/slide2.xml" Id="R628806bcff7e4f4e" /><Relationship Type="http://schemas.openxmlformats.org/officeDocument/2006/relationships/slide" Target="/ppt/slides/slide3.xml" Id="Rdb91235854f34707" /><Relationship Type="http://schemas.openxmlformats.org/officeDocument/2006/relationships/slide" Target="/ppt/slides/slide4.xml" Id="R2431649834654a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c22f4127c642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f0b309a119438a" /><Relationship Type="http://schemas.openxmlformats.org/officeDocument/2006/relationships/notesMaster" Target="/ppt/notesMasters/notesMaster1.xml" Id="R3476083460a743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1fab75d2944312" /><Relationship Type="http://schemas.openxmlformats.org/officeDocument/2006/relationships/notesMaster" Target="/ppt/notesMasters/notesMaster1.xml" Id="Rfd1996e6eb6d48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42e8557ee042a4" /><Relationship Type="http://schemas.openxmlformats.org/officeDocument/2006/relationships/notesMaster" Target="/ppt/notesMasters/notesMaster1.xml" Id="R73556d915d2f42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cc2dbb951c4d49" /><Relationship Type="http://schemas.openxmlformats.org/officeDocument/2006/relationships/notesMaster" Target="/ppt/notesMasters/notesMaster1.xml" Id="R1c5df6a64ea041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3297a4de014e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5bc5d4fc0042d4" /><Relationship Type="http://schemas.openxmlformats.org/officeDocument/2006/relationships/slideLayout" Target="/ppt/slideLayouts/slideLayout1.xml" Id="Rb4a1e4cc09fa49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a1e4cc09fa49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4267e14c74267" /><Relationship Type="http://schemas.openxmlformats.org/officeDocument/2006/relationships/image" Target="/ppt/media/image.png" Id="R0009574ed4284485" /><Relationship Type="http://schemas.openxmlformats.org/officeDocument/2006/relationships/notesSlide" Target="/ppt/notesSlides/notesSlide1.xml" Id="R9c0043333ecf48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f977506e44ac0" /><Relationship Type="http://schemas.openxmlformats.org/officeDocument/2006/relationships/notesSlide" Target="/ppt/notesSlides/notesSlide2.xml" Id="R98b381a8588d4a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71a76271842b0" /><Relationship Type="http://schemas.openxmlformats.org/officeDocument/2006/relationships/notesSlide" Target="/ppt/notesSlides/notesSlide3.xml" Id="Re5eb86108a9f46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9dbe5a72444f0" /><Relationship Type="http://schemas.openxmlformats.org/officeDocument/2006/relationships/notesSlide" Target="/ppt/notesSlides/notesSlide4.xml" Id="R7f46af11f59041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9574ed4284485"/>
          <a:srcRect xmlns:a="http://schemas.openxmlformats.org/drawingml/2006/main" l="25378" t="0" r="25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265CF-9E47-481B-90DD-90E5F1AB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0"/>
            <a:ext cx="1143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B9C27-D41C-4135-8CF6-27412BF6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MOVING SUPPLIER RENEWALS OUT OF CRISIS MODE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68EE9-DC83-44F6-A418-0DF2DA43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B1F33"/>
                </a:solidFill>
              </a:defRPr>
            </a:pPr>
            <a:r>
              <a:rPr sz="3750" b="1">
                <a:solidFill>
                  <a:srgbClr val="0B1F33"/>
                </a:solidFill>
              </a:rPr>
              <a:t>Contract Governance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948598-263B-43EE-AD2B-1873256F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474"/>
                </a:solidFill>
              </a:defRPr>
            </a:pPr>
            <a:r>
              <a:rPr sz="1500">
                <a:solidFill>
                  <a:srgbClr val="586474"/>
                </a:solidFill>
              </a:rPr>
              <a:t>Gouthami Vadithya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59297C-001E-40D9-B486-B189168A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8A44"/>
                </a:solidFill>
              </a:defRPr>
            </a:pPr>
            <a:r>
              <a:rPr sz="1050">
                <a:solidFill>
                  <a:srgbClr val="B88A44"/>
                </a:solidFill>
              </a:rPr>
              <a:t>Procurement · Supply Chain · Operations</a:t>
            </a:r>
          </a:p>
        </p:txBody>
      </p:sp>
    </p:spTree>
    <p:extLst>
      <p:ext uri="{BB962C8B-B14F-4D97-AF65-F5344CB8AC3E}">
        <p14:creationId xmlns:p14="http://schemas.microsoft.com/office/powerpoint/2010/main" val="17621243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1B5778-25F8-4D92-94B2-4454BF47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The problem worth solving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054AA-30F4-4F77-B708-A21609CD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C5AFF7-AF94-4045-83A2-96632052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solidFill>
              <a:srgbClr val="D9DE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4AD78-6C9D-4E9F-B1BC-60E124BE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66875"/>
            <a:ext cx="723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B1F33"/>
                </a:solidFill>
              </a:defRPr>
            </a:pPr>
            <a:r>
              <a:rPr sz="2100">
                <a:solidFill>
                  <a:srgbClr val="0B1F33"/>
                </a:solidFill>
              </a:rPr>
              <a:t>Pricing, amendments, obligations, expirations, and renewals were tracked without one proactive review rhythm.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B996E-444D-4019-9433-D96EE2C0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38300"/>
            <a:ext cx="2381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92E95-7597-4420-AB3F-2E52BE4D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95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2C1B7"/>
                </a:solidFill>
              </a:defRPr>
            </a:pPr>
            <a:r>
              <a:rPr sz="975" b="1">
                <a:solidFill>
                  <a:srgbClr val="72C1B7"/>
                </a:solidFill>
              </a:rPr>
              <a:t>WHY IT MATTERED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D11C2-FD6E-4D75-A117-BB610583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19375"/>
            <a:ext cx="1762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The issue affected decisions, ownership, and execution, not just reporting.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ED48A5-E74F-40E0-AD14-8FF9B396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Agiloft · 30+ agreements · 20% faster renewal</a:t>
            </a:r>
          </a:p>
        </p:txBody>
      </p:sp>
    </p:spTree>
    <p:extLst>
      <p:ext uri="{BB962C8B-B14F-4D97-AF65-F5344CB8AC3E}">
        <p14:creationId xmlns:p14="http://schemas.microsoft.com/office/powerpoint/2010/main" val="1763786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77FA55-0A7D-4AC0-88E2-9210FC9A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How I approached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FF0D3-3B4B-4E0C-A4BA-438B3BDE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C577F-6A92-40C8-BC3D-683783FB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solidFill>
              <a:srgbClr val="D9DE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F6F87-3BCB-4655-AC51-A6B8E783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983D4-FFC7-4011-96F7-42E21E6A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BD027-2D1E-47FA-A65B-55ED1965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Organized agreements by risk and 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D2DDF-D969-4843-8CA7-AE005941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26AE8-FDDE-4AC7-BE41-90168FAB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94603-1577-4310-9BB6-367BDF97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Assigned owners and review stages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C4274F-DA77-4722-9D4E-915FA58A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05E80-5D16-4B06-B9C3-7AEC7FF3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0E79E6-521F-414B-AB85-D6FAB74C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Created earlier escalation points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C083AF-F5ED-4C2E-98E9-B039012A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4F803-C492-410A-979A-CE049311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A5F600-861B-40A3-9581-4BD7F6F2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Tracked renewal actions to completion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A9E870-8475-4FE2-9CC8-7FB108A6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86474"/>
                </a:solidFill>
              </a:defRPr>
            </a:pPr>
            <a:r>
              <a:rPr sz="1500">
                <a:solidFill>
                  <a:srgbClr val="586474"/>
                </a:solidFill>
              </a:rPr>
              <a:t>The sequence moved from defining the decision to building evidence, testing options, and making the recommendation usable.</a:t>
            </a:r>
          </a:p>
        </p:txBody>
      </p:sp>
    </p:spTree>
    <p:extLst>
      <p:ext uri="{BB962C8B-B14F-4D97-AF65-F5344CB8AC3E}">
        <p14:creationId xmlns:p14="http://schemas.microsoft.com/office/powerpoint/2010/main" val="929276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8E6C41-D424-4108-9991-5E92008F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What changed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C183B-E8DA-47EB-A9A5-E0CC0DD7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828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Brought more than 30 agreements into a planned review process and shortened renewal turnaround time by 20%.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754A8-01DC-430D-90E3-E40FD318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542B1-1DD4-4D47-A36E-E90D9149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2C1B7"/>
                </a:solidFill>
              </a:defRPr>
            </a:pPr>
            <a:r>
              <a:rPr sz="1650" b="1">
                <a:solidFill>
                  <a:srgbClr val="72C1B7"/>
                </a:solidFill>
              </a:rPr>
              <a:t>Agiloft · 30+ agreements · 20% faster renewal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3B5D5-B9CB-4E23-AFC6-2FC1A65B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B6C2"/>
                </a:solidFill>
              </a:defRPr>
            </a:pPr>
            <a:r>
              <a:rPr sz="1050">
                <a:solidFill>
                  <a:srgbClr val="A9B6C2"/>
                </a:solidFill>
              </a:rPr>
              <a:t>Portfolio case study by Gouthami Vadithya</a:t>
            </a:r>
          </a:p>
        </p:txBody>
      </p:sp>
    </p:spTree>
    <p:extLst>
      <p:ext uri="{BB962C8B-B14F-4D97-AF65-F5344CB8AC3E}">
        <p14:creationId xmlns:p14="http://schemas.microsoft.com/office/powerpoint/2010/main" val="11904108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2026-07-24T17:47:02.9380000Z</dcterms:created>
  <dcterms:modified xsi:type="dcterms:W3CDTF">2026-07-24T17:47:02.9380000Z</dcterms:modified>
</coreProperties>
</file>